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e57737d4-3547-702b-e315-b66865435c3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(Week 16)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Project 58 · Legal Case and Client Management ·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Legal Desk: Final Application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Review 3 · Web application, demonstration and testing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Project 58 · Database Management System · Ishanth M (25WU0102101)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tier-0"/>
          <p:cNvSpPr/>
          <p:nvPr/>
        </p:nvSpPr>
        <p:spPr>
          <a:xfrm>
            <a:off x="457200" y="13716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Browser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Single-page app in HTML, CSS and JavaScript. Forms validate input.</a:t>
            </a:r>
            <a:endParaRPr lang="en-US" sz="1400" dirty="0"/>
          </a:p>
        </p:txBody>
      </p:sp>
      <p:sp>
        <p:nvSpPr>
          <p:cNvPr id="6" name="arrow-0"/>
          <p:cNvSpPr/>
          <p:nvPr/>
        </p:nvSpPr>
        <p:spPr>
          <a:xfrm>
            <a:off x="2907792" y="1627632"/>
            <a:ext cx="402336" cy="310896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ier-1"/>
          <p:cNvSpPr/>
          <p:nvPr/>
        </p:nvSpPr>
        <p:spPr>
          <a:xfrm>
            <a:off x="3383280" y="13716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Flask API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REST API: sessions, roles, validation, transactions.</a:t>
            </a:r>
            <a:endParaRPr lang="en-US" sz="1400" dirty="0"/>
          </a:p>
        </p:txBody>
      </p:sp>
      <p:sp>
        <p:nvSpPr>
          <p:cNvPr id="10" name="arrow-1"/>
          <p:cNvSpPr/>
          <p:nvPr/>
        </p:nvSpPr>
        <p:spPr>
          <a:xfrm>
            <a:off x="5833872" y="1627632"/>
            <a:ext cx="402336" cy="310896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ier-2"/>
          <p:cNvSpPr/>
          <p:nvPr/>
        </p:nvSpPr>
        <p:spPr>
          <a:xfrm>
            <a:off x="6309360" y="13716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MySQL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Tables, constraints, triggers and views enforce the rules.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JSON over HTTP between browser and API; mysql-connector between API and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Application modules</a:t>
            </a:r>
            <a:endParaRPr lang="en-US" sz="34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Add, edit, delete clients and cases</a:t>
            </a:r>
            <a:endParaRPr lang="en-US" sz="1400" dirty="0"/>
          </a:p>
        </p:txBody>
      </p:sp>
      <p:sp>
        <p:nvSpPr>
          <p:cNvPr id="8" name="card-2"/>
          <p:cNvSpPr/>
          <p:nvPr/>
        </p:nvSpPr>
        <p:spPr>
          <a:xfrm>
            <a:off x="256032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 lawyers when saving a case</a:t>
            </a:r>
            <a:endParaRPr lang="en-US" sz="1400" dirty="0"/>
          </a:p>
        </p:txBody>
      </p:sp>
      <p:sp>
        <p:nvSpPr>
          <p:cNvPr id="13" name="card-3"/>
          <p:cNvSpPr/>
          <p:nvPr/>
        </p:nvSpPr>
        <p:spPr>
          <a:xfrm>
            <a:off x="466344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Hearings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Schedule with clash check</a:t>
            </a:r>
            <a:endParaRPr lang="en-US" sz="1400" dirty="0"/>
          </a:p>
        </p:txBody>
      </p:sp>
      <p:sp>
        <p:nvSpPr>
          <p:cNvPr id="18" name="card-4"/>
          <p:cNvSpPr/>
          <p:nvPr/>
        </p:nvSpPr>
        <p:spPr>
          <a:xfrm>
            <a:off x="676656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4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Tasks, documents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Track deadlines and papers</a:t>
            </a:r>
            <a:endParaRPr lang="en-US" sz="1400" dirty="0"/>
          </a:p>
        </p:txBody>
      </p:sp>
      <p:sp>
        <p:nvSpPr>
          <p:cNvPr id="23" name="card-5"/>
          <p:cNvSpPr/>
          <p:nvPr/>
        </p:nvSpPr>
        <p:spPr>
          <a:xfrm>
            <a:off x="45720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5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 entry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 billable hours</a:t>
            </a:r>
            <a:endParaRPr lang="en-US" sz="1400" dirty="0"/>
          </a:p>
        </p:txBody>
      </p:sp>
      <p:sp>
        <p:nvSpPr>
          <p:cNvPr id="28" name="card-6"/>
          <p:cNvSpPr/>
          <p:nvPr/>
        </p:nvSpPr>
        <p:spPr>
          <a:xfrm>
            <a:off x="256032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-6"/>
          <p:cNvSpPr/>
          <p:nvPr/>
        </p:nvSpPr>
        <p:spPr>
          <a:xfrm>
            <a:off x="269748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974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Billing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Invoices and expenses</a:t>
            </a:r>
            <a:endParaRPr lang="en-US" sz="1400" dirty="0"/>
          </a:p>
        </p:txBody>
      </p:sp>
      <p:sp>
        <p:nvSpPr>
          <p:cNvPr id="33" name="card-7"/>
          <p:cNvSpPr/>
          <p:nvPr/>
        </p:nvSpPr>
        <p:spPr>
          <a:xfrm>
            <a:off x="466344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-7"/>
          <p:cNvSpPr/>
          <p:nvPr/>
        </p:nvSpPr>
        <p:spPr>
          <a:xfrm>
            <a:off x="480060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 and check dues</a:t>
            </a:r>
            <a:endParaRPr lang="en-US" sz="1400" dirty="0"/>
          </a:p>
        </p:txBody>
      </p:sp>
      <p:sp>
        <p:nvSpPr>
          <p:cNvPr id="38" name="card-8"/>
          <p:cNvSpPr/>
          <p:nvPr/>
        </p:nvSpPr>
        <p:spPr>
          <a:xfrm>
            <a:off x="676656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-8"/>
          <p:cNvSpPr/>
          <p:nvPr/>
        </p:nvSpPr>
        <p:spPr>
          <a:xfrm>
            <a:off x="690372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037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Dashboard, search, CSV, 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Roles and access control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Admin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Read and write everything, users, activity log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Whole firm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Clerk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Clients, cases, billing, payments, reports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Whole firm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Hearings, tasks, documents, time entries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Own cases only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Client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Read-only cases, hearings, invoices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Own records only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Passwords are stored as PBKDF2 hashes. Row filters are applied in SQL on every request, and each change is written to activity_log.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Integrity, transactions, indexes</a:t>
            </a:r>
            <a:endParaRPr lang="en-US" sz="34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2590800" cy="265176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44168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16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 types, API checks, then CHECK, UNIQUE and FK constraints in MySQL.</a:t>
            </a:r>
            <a:endParaRPr lang="en-US" sz="1400" dirty="0"/>
          </a:p>
        </p:txBody>
      </p:sp>
      <p:sp>
        <p:nvSpPr>
          <p:cNvPr id="8" name="card-2"/>
          <p:cNvSpPr/>
          <p:nvPr/>
        </p:nvSpPr>
        <p:spPr>
          <a:xfrm>
            <a:off x="3276600" y="1234440"/>
            <a:ext cx="2590800" cy="265176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34137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37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70960" y="1344168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20240"/>
            <a:ext cx="2316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save commits as one unit and rolls back on any error, so a case and its lawyers never split.</a:t>
            </a:r>
            <a:endParaRPr lang="en-US" sz="1400" dirty="0"/>
          </a:p>
        </p:txBody>
      </p:sp>
      <p:sp>
        <p:nvSpPr>
          <p:cNvPr id="13" name="card-3"/>
          <p:cNvSpPr/>
          <p:nvPr/>
        </p:nvSpPr>
        <p:spPr>
          <a:xfrm>
            <a:off x="6096000" y="1234440"/>
            <a:ext cx="2590800" cy="265176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62331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31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0360" y="1344168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Indexing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1920240"/>
            <a:ext cx="2316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Indexes on case client, hearing date and unique case number speed common searches.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 errors are translated into plain messages, for example: "This record is still used by other records."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 cases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Add a case with a duplicate case number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Rejected with a clear message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Schedule overlapping hearings for one 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Rejected by trigger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Enter negative hours or expense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Rejected by CHECK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Pay more than the invoice balance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Rejected by trigger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Delete a client who has cases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Blocked by foreign key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Client opens another client's 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No data returned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Search a case by title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Matching rows only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flow and deliverables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Final demonstration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Sign in as each role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Register a client and case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Assign lawyer, schedule hearing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Add time, invoice, payment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Run reports, show MySQL terminal</a:t>
            </a:r>
            <a:endParaRPr lang="en-US" sz="1400" dirty="0"/>
          </a:p>
        </p:txBody>
      </p:sp>
      <p:sp>
        <p:nvSpPr>
          <p:cNvPr id="5" name="deliver-card"/>
          <p:cNvSpPr/>
          <p:nvPr/>
        </p:nvSpPr>
        <p:spPr>
          <a:xfrm>
            <a:off x="4754880" y="118872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325880"/>
            <a:ext cx="3566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Deliverables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Source code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Database script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Project report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Viva-voce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al Desk">
  <a:themeElements>
    <a:clrScheme name="Legal Desk">
      <a:dk1>
        <a:srgbClr val="1B2438"/>
      </a:dk1>
      <a:lt1>
        <a:srgbClr val="FFFFFF"/>
      </a:lt1>
      <a:dk2>
        <a:srgbClr val="2B3A5C"/>
      </a:dk2>
      <a:lt2>
        <a:srgbClr val="EEF0F3"/>
      </a:lt2>
      <a:accent1>
        <a:srgbClr val="9A7421"/>
      </a:accent1>
      <a:accent2>
        <a:srgbClr val="2F6B4F"/>
      </a:accent2>
      <a:accent3>
        <a:srgbClr val="A63D2F"/>
      </a:accent3>
      <a:accent4>
        <a:srgbClr val="5D6678"/>
      </a:accent4>
      <a:accent5>
        <a:srgbClr val="C9A24A"/>
      </a:accent5>
      <a:accent6>
        <a:srgbClr val="3E5C8A"/>
      </a:accent6>
      <a:hlink>
        <a:srgbClr val="3E5C8A"/>
      </a:hlink>
      <a:folHlink>
        <a:srgbClr val="5D6678"/>
      </a:folHlink>
    </a:clrScheme>
    <a:fontScheme name="Legal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Case and Client Management System - Review 3</dc:title>
  <dc:subject>PptxGenJS Presentation</dc:subject>
  <dc:creator>PptxGenJS</dc:creator>
  <cp:lastModifiedBy>PptxGenJS</cp:lastModifiedBy>
  <cp:revision>1</cp:revision>
  <dcterms:created xsi:type="dcterms:W3CDTF">2026-10-15T21:18:39Z</dcterms:created>
  <dcterms:modified xsi:type="dcterms:W3CDTF">2026-10-15T21:18:39Z</dcterms:modified>
</cp:coreProperties>
</file>