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Review 3" id="{e57737d4-3547-702b-e315-b66865435c34}">
          <p14:sldIdLst>
            <p14:sldId id="256"/>
            <p14:sldId id="257"/>
            <p14:sldId id="258"/>
            <p14:sldId id="259"/>
            <p14:sldId id="260"/>
            <p14:sldId id="261"/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3 (Week 16)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188720"/>
            <a:ext cx="786384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880360"/>
            <a:ext cx="786384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457200" y="477316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Project 58 · Legal Case and Client Management · Review 3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18872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Legal Desk: Final Application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88036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Review 3 · Web application, demonstration and testing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Project 58 · Database Management System · M Srihari (25WU0103025)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System architecture</a:t>
            </a:r>
            <a:endParaRPr lang="en-US" sz="3400" dirty="0"/>
          </a:p>
        </p:txBody>
      </p:sp>
      <p:sp>
        <p:nvSpPr>
          <p:cNvPr id="3" name="tier-0"/>
          <p:cNvSpPr/>
          <p:nvPr/>
        </p:nvSpPr>
        <p:spPr>
          <a:xfrm>
            <a:off x="457200" y="1371600"/>
            <a:ext cx="2377440" cy="822960"/>
          </a:xfrm>
          <a:prstGeom prst="roundRect">
            <a:avLst>
              <a:gd name="adj" fmla="val 888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3716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Browser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42316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Single-page app in HTML, CSS and JavaScript. Forms validate input.</a:t>
            </a:r>
            <a:endParaRPr lang="en-US" sz="1400" dirty="0"/>
          </a:p>
        </p:txBody>
      </p:sp>
      <p:sp>
        <p:nvSpPr>
          <p:cNvPr id="6" name="arrow-0"/>
          <p:cNvSpPr/>
          <p:nvPr/>
        </p:nvSpPr>
        <p:spPr>
          <a:xfrm>
            <a:off x="2907792" y="1627632"/>
            <a:ext cx="402336" cy="310896"/>
          </a:xfrm>
          <a:prstGeom prst="right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tier-1"/>
          <p:cNvSpPr/>
          <p:nvPr/>
        </p:nvSpPr>
        <p:spPr>
          <a:xfrm>
            <a:off x="3383280" y="1371600"/>
            <a:ext cx="2377440" cy="822960"/>
          </a:xfrm>
          <a:prstGeom prst="roundRect">
            <a:avLst>
              <a:gd name="adj" fmla="val 88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83280" y="13716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Flask API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242316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Python REST API: sessions, roles, validation, transactions.</a:t>
            </a:r>
            <a:endParaRPr lang="en-US" sz="1400" dirty="0"/>
          </a:p>
        </p:txBody>
      </p:sp>
      <p:sp>
        <p:nvSpPr>
          <p:cNvPr id="10" name="arrow-1"/>
          <p:cNvSpPr/>
          <p:nvPr/>
        </p:nvSpPr>
        <p:spPr>
          <a:xfrm>
            <a:off x="5833872" y="1627632"/>
            <a:ext cx="402336" cy="310896"/>
          </a:xfrm>
          <a:prstGeom prst="right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tier-2"/>
          <p:cNvSpPr/>
          <p:nvPr/>
        </p:nvSpPr>
        <p:spPr>
          <a:xfrm>
            <a:off x="6309360" y="1371600"/>
            <a:ext cx="2377440" cy="822960"/>
          </a:xfrm>
          <a:prstGeom prst="roundRect">
            <a:avLst>
              <a:gd name="adj" fmla="val 888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09360" y="13716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MySQL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6309360" y="242316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Tables, constraints, triggers and views enforce the rules.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4023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JSON over HTTP between browser and API; mysql-connector between API and database.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Application modules</a:t>
            </a:r>
            <a:endParaRPr lang="en-US" sz="3400" dirty="0"/>
          </a:p>
        </p:txBody>
      </p:sp>
      <p:sp>
        <p:nvSpPr>
          <p:cNvPr id="3" name="card-1"/>
          <p:cNvSpPr/>
          <p:nvPr/>
        </p:nvSpPr>
        <p:spPr>
          <a:xfrm>
            <a:off x="457200" y="1234440"/>
            <a:ext cx="19202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badge-1"/>
          <p:cNvSpPr/>
          <p:nvPr/>
        </p:nvSpPr>
        <p:spPr>
          <a:xfrm>
            <a:off x="594360" y="137160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71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34416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Registration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92024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Add, edit, delete clients and cases</a:t>
            </a:r>
            <a:endParaRPr lang="en-US" sz="1400" dirty="0"/>
          </a:p>
        </p:txBody>
      </p:sp>
      <p:sp>
        <p:nvSpPr>
          <p:cNvPr id="8" name="card-2"/>
          <p:cNvSpPr/>
          <p:nvPr/>
        </p:nvSpPr>
        <p:spPr>
          <a:xfrm>
            <a:off x="2560320" y="1234440"/>
            <a:ext cx="19202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badge-2"/>
          <p:cNvSpPr/>
          <p:nvPr/>
        </p:nvSpPr>
        <p:spPr>
          <a:xfrm>
            <a:off x="2697480" y="137160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97480" y="1371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154680" y="134416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Assignment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697480" y="192024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Pick lawyers when saving a case</a:t>
            </a:r>
            <a:endParaRPr lang="en-US" sz="1400" dirty="0"/>
          </a:p>
        </p:txBody>
      </p:sp>
      <p:sp>
        <p:nvSpPr>
          <p:cNvPr id="13" name="card-3"/>
          <p:cNvSpPr/>
          <p:nvPr/>
        </p:nvSpPr>
        <p:spPr>
          <a:xfrm>
            <a:off x="4663440" y="1234440"/>
            <a:ext cx="19202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badge-3"/>
          <p:cNvSpPr/>
          <p:nvPr/>
        </p:nvSpPr>
        <p:spPr>
          <a:xfrm>
            <a:off x="4800600" y="137160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00600" y="1371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257800" y="134416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Hearings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800600" y="192024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Schedule with clash check</a:t>
            </a:r>
            <a:endParaRPr lang="en-US" sz="1400" dirty="0"/>
          </a:p>
        </p:txBody>
      </p:sp>
      <p:sp>
        <p:nvSpPr>
          <p:cNvPr id="18" name="card-4"/>
          <p:cNvSpPr/>
          <p:nvPr/>
        </p:nvSpPr>
        <p:spPr>
          <a:xfrm>
            <a:off x="6766560" y="1234440"/>
            <a:ext cx="19202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badge-4"/>
          <p:cNvSpPr/>
          <p:nvPr/>
        </p:nvSpPr>
        <p:spPr>
          <a:xfrm>
            <a:off x="6903720" y="137160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903720" y="1371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360920" y="134416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Tasks, documents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903720" y="192024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Track deadlines and papers</a:t>
            </a:r>
            <a:endParaRPr lang="en-US" sz="1400" dirty="0"/>
          </a:p>
        </p:txBody>
      </p:sp>
      <p:sp>
        <p:nvSpPr>
          <p:cNvPr id="23" name="card-5"/>
          <p:cNvSpPr/>
          <p:nvPr/>
        </p:nvSpPr>
        <p:spPr>
          <a:xfrm>
            <a:off x="457200" y="3017520"/>
            <a:ext cx="19202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badge-5"/>
          <p:cNvSpPr/>
          <p:nvPr/>
        </p:nvSpPr>
        <p:spPr>
          <a:xfrm>
            <a:off x="594360" y="315468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4360" y="3154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312724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Time entry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" y="370332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Log billable hours</a:t>
            </a:r>
            <a:endParaRPr lang="en-US" sz="1400" dirty="0"/>
          </a:p>
        </p:txBody>
      </p:sp>
      <p:sp>
        <p:nvSpPr>
          <p:cNvPr id="28" name="card-6"/>
          <p:cNvSpPr/>
          <p:nvPr/>
        </p:nvSpPr>
        <p:spPr>
          <a:xfrm>
            <a:off x="2560320" y="3017520"/>
            <a:ext cx="19202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badge-6"/>
          <p:cNvSpPr/>
          <p:nvPr/>
        </p:nvSpPr>
        <p:spPr>
          <a:xfrm>
            <a:off x="2697480" y="315468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697480" y="3154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3154680" y="312724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Billing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2697480" y="370332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Invoices and expenses</a:t>
            </a:r>
            <a:endParaRPr lang="en-US" sz="1400" dirty="0"/>
          </a:p>
        </p:txBody>
      </p:sp>
      <p:sp>
        <p:nvSpPr>
          <p:cNvPr id="33" name="card-7"/>
          <p:cNvSpPr/>
          <p:nvPr/>
        </p:nvSpPr>
        <p:spPr>
          <a:xfrm>
            <a:off x="4663440" y="3017520"/>
            <a:ext cx="19202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4" name="badge-7"/>
          <p:cNvSpPr/>
          <p:nvPr/>
        </p:nvSpPr>
        <p:spPr>
          <a:xfrm>
            <a:off x="4800600" y="315468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800600" y="3154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7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5257800" y="312724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Payments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800600" y="370332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Record and check dues</a:t>
            </a:r>
            <a:endParaRPr lang="en-US" sz="1400" dirty="0"/>
          </a:p>
        </p:txBody>
      </p:sp>
      <p:sp>
        <p:nvSpPr>
          <p:cNvPr id="38" name="card-8"/>
          <p:cNvSpPr/>
          <p:nvPr/>
        </p:nvSpPr>
        <p:spPr>
          <a:xfrm>
            <a:off x="6766560" y="3017520"/>
            <a:ext cx="19202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9" name="badge-8"/>
          <p:cNvSpPr/>
          <p:nvPr/>
        </p:nvSpPr>
        <p:spPr>
          <a:xfrm>
            <a:off x="6903720" y="315468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903720" y="3154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8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360920" y="312724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Reports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903720" y="370332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Dashboard, search, CSV, log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Roles and access control</a:t>
            </a:r>
            <a:endParaRPr lang="en-US" sz="3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572000"/>
                <a:gridCol w="2194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Role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Access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Scope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438"/>
                          </a:solidFill>
                        </a:rPr>
                        <a:t>Admin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8"/>
                          </a:solidFill>
                        </a:rPr>
                        <a:t>Read and write everything, users, activity log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8"/>
                          </a:solidFill>
                        </a:rPr>
                        <a:t>Whole firm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438"/>
                          </a:solidFill>
                        </a:rPr>
                        <a:t>Clerk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8"/>
                          </a:solidFill>
                        </a:rPr>
                        <a:t>Clients, cases, billing, payments, reports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8"/>
                          </a:solidFill>
                        </a:rPr>
                        <a:t>Whole firm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438"/>
                          </a:solidFill>
                        </a:rPr>
                        <a:t>Lawyer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8"/>
                          </a:solidFill>
                        </a:rPr>
                        <a:t>Hearings, tasks, documents, time entries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8"/>
                          </a:solidFill>
                        </a:rPr>
                        <a:t>Own cases only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438"/>
                          </a:solidFill>
                        </a:rPr>
                        <a:t>Client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8"/>
                          </a:solidFill>
                        </a:rPr>
                        <a:t>Read-only cases, hearings, invoices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8"/>
                          </a:solidFill>
                        </a:rPr>
                        <a:t>Own records only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3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35661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Passwords are stored as PBKDF2 hashes. Row filters are applied in SQL on every request, and each change is written to activity_log.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Integrity, transactions, indexes</a:t>
            </a:r>
            <a:endParaRPr lang="en-US" sz="3400" dirty="0"/>
          </a:p>
        </p:txBody>
      </p:sp>
      <p:sp>
        <p:nvSpPr>
          <p:cNvPr id="3" name="card-1"/>
          <p:cNvSpPr/>
          <p:nvPr/>
        </p:nvSpPr>
        <p:spPr>
          <a:xfrm>
            <a:off x="457200" y="1234440"/>
            <a:ext cx="2590800" cy="2651760"/>
          </a:xfrm>
          <a:prstGeom prst="roundRect">
            <a:avLst>
              <a:gd name="adj" fmla="val 28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badge-1"/>
          <p:cNvSpPr/>
          <p:nvPr/>
        </p:nvSpPr>
        <p:spPr>
          <a:xfrm>
            <a:off x="594360" y="137160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71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344168"/>
            <a:ext cx="190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Validation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920240"/>
            <a:ext cx="23164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Form types, API checks, then CHECK, UNIQUE and FK constraints in MySQL.</a:t>
            </a:r>
            <a:endParaRPr lang="en-US" sz="1400" dirty="0"/>
          </a:p>
        </p:txBody>
      </p:sp>
      <p:sp>
        <p:nvSpPr>
          <p:cNvPr id="8" name="card-2"/>
          <p:cNvSpPr/>
          <p:nvPr/>
        </p:nvSpPr>
        <p:spPr>
          <a:xfrm>
            <a:off x="3276600" y="1234440"/>
            <a:ext cx="2590800" cy="2651760"/>
          </a:xfrm>
          <a:prstGeom prst="roundRect">
            <a:avLst>
              <a:gd name="adj" fmla="val 28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badge-2"/>
          <p:cNvSpPr/>
          <p:nvPr/>
        </p:nvSpPr>
        <p:spPr>
          <a:xfrm>
            <a:off x="3413760" y="137160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13760" y="1371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870960" y="1344168"/>
            <a:ext cx="190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Transactions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413760" y="1920240"/>
            <a:ext cx="23164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Each save commits as one unit and rolls back on any error, so a case and its lawyers never split.</a:t>
            </a:r>
            <a:endParaRPr lang="en-US" sz="1400" dirty="0"/>
          </a:p>
        </p:txBody>
      </p:sp>
      <p:sp>
        <p:nvSpPr>
          <p:cNvPr id="13" name="card-3"/>
          <p:cNvSpPr/>
          <p:nvPr/>
        </p:nvSpPr>
        <p:spPr>
          <a:xfrm>
            <a:off x="6096000" y="1234440"/>
            <a:ext cx="2590800" cy="2651760"/>
          </a:xfrm>
          <a:prstGeom prst="roundRect">
            <a:avLst>
              <a:gd name="adj" fmla="val 28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badge-3"/>
          <p:cNvSpPr/>
          <p:nvPr/>
        </p:nvSpPr>
        <p:spPr>
          <a:xfrm>
            <a:off x="6233160" y="137160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33160" y="1371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690360" y="1344168"/>
            <a:ext cx="190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Indexing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233160" y="1920240"/>
            <a:ext cx="23164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Indexes on case client, hearing date and unique case number speed common searches.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023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Database errors are translated into plain messages, for example: "This record is still used by other records."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Test cases</a:t>
            </a:r>
            <a:endParaRPr lang="en-US" sz="3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4572000"/>
                <a:gridCol w="3200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Test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Expected result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438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8"/>
                          </a:solidFill>
                        </a:rPr>
                        <a:t>Add a case with a duplicate case number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8"/>
                          </a:solidFill>
                        </a:rPr>
                        <a:t>Rejected with a clear message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438"/>
                          </a:solidFill>
                        </a:rPr>
                        <a:t>2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8"/>
                          </a:solidFill>
                        </a:rPr>
                        <a:t>Schedule overlapping hearings for one lawyer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8"/>
                          </a:solidFill>
                        </a:rPr>
                        <a:t>Rejected by trigger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438"/>
                          </a:solidFill>
                        </a:rPr>
                        <a:t>3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8"/>
                          </a:solidFill>
                        </a:rPr>
                        <a:t>Enter negative hours or expense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8"/>
                          </a:solidFill>
                        </a:rPr>
                        <a:t>Rejected by CHECK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438"/>
                          </a:solidFill>
                        </a:rPr>
                        <a:t>4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8"/>
                          </a:solidFill>
                        </a:rPr>
                        <a:t>Pay more than the invoice balance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8"/>
                          </a:solidFill>
                        </a:rPr>
                        <a:t>Rejected by trigger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438"/>
                          </a:solidFill>
                        </a:rPr>
                        <a:t>5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8"/>
                          </a:solidFill>
                        </a:rPr>
                        <a:t>Delete a client who has cases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8"/>
                          </a:solidFill>
                        </a:rPr>
                        <a:t>Blocked by foreign key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438"/>
                          </a:solidFill>
                        </a:rPr>
                        <a:t>6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8"/>
                          </a:solidFill>
                        </a:rPr>
                        <a:t>Client opens another client's case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8"/>
                          </a:solidFill>
                        </a:rPr>
                        <a:t>No data returned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438"/>
                          </a:solidFill>
                        </a:rPr>
                        <a:t>7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8"/>
                          </a:solidFill>
                        </a:rPr>
                        <a:t>Search a case by title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8"/>
                          </a:solidFill>
                        </a:rPr>
                        <a:t>Matching rows only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Demo flow and deliverables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Final demonstration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00200"/>
            <a:ext cx="40233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2"/>
                </a:solidFill>
              </a:rPr>
              <a:t>Sign in as each role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2"/>
                </a:solidFill>
              </a:rPr>
              <a:t>Register a client and case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2"/>
                </a:solidFill>
              </a:rPr>
              <a:t>Assign lawyer, schedule hearing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2"/>
                </a:solidFill>
              </a:rPr>
              <a:t>Add time, invoice, payment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2"/>
                </a:solidFill>
              </a:rPr>
              <a:t>Run reports, show MySQL terminal</a:t>
            </a:r>
            <a:endParaRPr lang="en-US" sz="1400" dirty="0"/>
          </a:p>
        </p:txBody>
      </p:sp>
      <p:sp>
        <p:nvSpPr>
          <p:cNvPr id="5" name="deliver-card"/>
          <p:cNvSpPr/>
          <p:nvPr/>
        </p:nvSpPr>
        <p:spPr>
          <a:xfrm>
            <a:off x="4754880" y="1188720"/>
            <a:ext cx="3931920" cy="3337560"/>
          </a:xfrm>
          <a:prstGeom prst="roundRect">
            <a:avLst>
              <a:gd name="adj" fmla="val 2192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937760" y="1325880"/>
            <a:ext cx="3566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chemeClr val="accent5"/>
                </a:solidFill>
              </a:rPr>
              <a:t>Deliverables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Source code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Database script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Test data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Output screens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Project report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Viva-voce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egal Desk">
  <a:themeElements>
    <a:clrScheme name="Legal Desk">
      <a:dk1>
        <a:srgbClr val="1B2438"/>
      </a:dk1>
      <a:lt1>
        <a:srgbClr val="FFFFFF"/>
      </a:lt1>
      <a:dk2>
        <a:srgbClr val="2B3A5C"/>
      </a:dk2>
      <a:lt2>
        <a:srgbClr val="EEF0F3"/>
      </a:lt2>
      <a:accent1>
        <a:srgbClr val="9A7421"/>
      </a:accent1>
      <a:accent2>
        <a:srgbClr val="2F6B4F"/>
      </a:accent2>
      <a:accent3>
        <a:srgbClr val="A63D2F"/>
      </a:accent3>
      <a:accent4>
        <a:srgbClr val="5D6678"/>
      </a:accent4>
      <a:accent5>
        <a:srgbClr val="C9A24A"/>
      </a:accent5>
      <a:accent6>
        <a:srgbClr val="3E5C8A"/>
      </a:accent6>
      <a:hlink>
        <a:srgbClr val="3E5C8A"/>
      </a:hlink>
      <a:folHlink>
        <a:srgbClr val="5D6678"/>
      </a:folHlink>
    </a:clrScheme>
    <a:fontScheme name="Legal Desk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Legal Case and Client Management System - Review 3</dc:title>
  <dc:subject>PptxGenJS Presentation</dc:subject>
  <dc:creator>PptxGenJS</dc:creator>
  <cp:lastModifiedBy>PptxGenJS</cp:lastModifiedBy>
  <cp:revision>1</cp:revision>
  <dcterms:created xsi:type="dcterms:W3CDTF">2026-10-15T21:18:39Z</dcterms:created>
  <dcterms:modified xsi:type="dcterms:W3CDTF">2026-10-15T21:18:39Z</dcterms:modified>
</cp:coreProperties>
</file>