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1" id="{dd4d80d7-7da3-6aaa-10be-cf28d1521318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(Week 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Project 58 · Legal Case and Client Management ·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Legal Case and Client Management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Review 1 · Problem, ER design and initial schema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58 · Database Management System · Ishanth M (25WU0102101)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and objectives</a:t>
            </a:r>
            <a:endParaRPr lang="en-US" sz="3400" dirty="0"/>
          </a:p>
        </p:txBody>
      </p:sp>
      <p:sp>
        <p:nvSpPr>
          <p:cNvPr id="3" name="problem-card"/>
          <p:cNvSpPr/>
          <p:nvPr/>
        </p:nvSpPr>
        <p:spPr>
          <a:xfrm>
            <a:off x="457200" y="123444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The problem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Law offices keep client, case, hearing, time, expense and billing records on paper. Deadlines are missed, billing is slow and errors go unnoticed.</a:t>
            </a:r>
            <a:endParaRPr lang="en-US" sz="2000" dirty="0"/>
          </a:p>
        </p:txBody>
      </p:sp>
      <p:sp>
        <p:nvSpPr>
          <p:cNvPr id="5" name="card-1"/>
          <p:cNvSpPr/>
          <p:nvPr/>
        </p:nvSpPr>
        <p:spPr>
          <a:xfrm>
            <a:off x="4297680" y="1234440"/>
            <a:ext cx="43891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-1"/>
          <p:cNvSpPr/>
          <p:nvPr/>
        </p:nvSpPr>
        <p:spPr>
          <a:xfrm>
            <a:off x="443484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344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Central database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20240"/>
            <a:ext cx="411480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relational database for every case record</a:t>
            </a:r>
            <a:endParaRPr lang="en-US" sz="1400" dirty="0"/>
          </a:p>
        </p:txBody>
      </p:sp>
      <p:sp>
        <p:nvSpPr>
          <p:cNvPr id="11" name="card-2"/>
          <p:cNvSpPr/>
          <p:nvPr/>
        </p:nvSpPr>
        <p:spPr>
          <a:xfrm>
            <a:off x="4297680" y="2084832"/>
            <a:ext cx="43891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-2"/>
          <p:cNvSpPr/>
          <p:nvPr/>
        </p:nvSpPr>
        <p:spPr>
          <a:xfrm>
            <a:off x="4434840" y="22219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Rules in the database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770632"/>
            <a:ext cx="411480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496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Constraints and triggers protect data integrity</a:t>
            </a:r>
            <a:endParaRPr lang="en-US" sz="1400" dirty="0"/>
          </a:p>
        </p:txBody>
      </p:sp>
      <p:sp>
        <p:nvSpPr>
          <p:cNvPr id="17" name="card-3"/>
          <p:cNvSpPr/>
          <p:nvPr/>
        </p:nvSpPr>
        <p:spPr>
          <a:xfrm>
            <a:off x="4297680" y="2935224"/>
            <a:ext cx="43891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-3"/>
          <p:cNvSpPr/>
          <p:nvPr/>
        </p:nvSpPr>
        <p:spPr>
          <a:xfrm>
            <a:off x="4434840" y="3072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0449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Role-based web app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621024"/>
            <a:ext cx="411480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Separate access for staff, lawyers and clients</a:t>
            </a:r>
            <a:endParaRPr lang="en-US" sz="1400" dirty="0"/>
          </a:p>
        </p:txBody>
      </p:sp>
      <p:sp>
        <p:nvSpPr>
          <p:cNvPr id="23" name="card-4"/>
          <p:cNvSpPr/>
          <p:nvPr/>
        </p:nvSpPr>
        <p:spPr>
          <a:xfrm>
            <a:off x="4297680" y="3785616"/>
            <a:ext cx="43891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4"/>
          <p:cNvSpPr/>
          <p:nvPr/>
        </p:nvSpPr>
        <p:spPr>
          <a:xfrm>
            <a:off x="4434840" y="39227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8953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Useful reports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471416"/>
            <a:ext cx="411480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197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Hearings, workload, billable time, dues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Scope and users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Manages users, reviews activity and reports</a:t>
            </a:r>
            <a:endParaRPr lang="en-US" sz="1400" dirty="0"/>
          </a:p>
        </p:txBody>
      </p:sp>
      <p:sp>
        <p:nvSpPr>
          <p:cNvPr id="8" name="card-2"/>
          <p:cNvSpPr/>
          <p:nvPr/>
        </p:nvSpPr>
        <p:spPr>
          <a:xfrm>
            <a:off x="256032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Office clerk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202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Registers clients and cases, bills and records payments</a:t>
            </a:r>
            <a:endParaRPr lang="en-US" sz="1400" dirty="0"/>
          </a:p>
        </p:txBody>
      </p:sp>
      <p:sp>
        <p:nvSpPr>
          <p:cNvPr id="13" name="card-3"/>
          <p:cNvSpPr/>
          <p:nvPr/>
        </p:nvSpPr>
        <p:spPr>
          <a:xfrm>
            <a:off x="466344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Lawyer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202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Sees own cases; logs hearings, tasks, time</a:t>
            </a:r>
            <a:endParaRPr lang="en-US" sz="1400" dirty="0"/>
          </a:p>
        </p:txBody>
      </p:sp>
      <p:sp>
        <p:nvSpPr>
          <p:cNvPr id="18" name="card-4"/>
          <p:cNvSpPr/>
          <p:nvPr/>
        </p:nvSpPr>
        <p:spPr>
          <a:xfrm>
            <a:off x="676656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4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Read-only view of own cases and invoices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 scope: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registration, assignment, hearings, tasks, documents, time, expenses, invoices, payments, reports.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Out of scope: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court e-filing, online payment gateway, document file storage.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requirements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Clients and cases with unique case numbers</a:t>
            </a:r>
            <a:endParaRPr lang="en-US" sz="1400" dirty="0"/>
          </a:p>
        </p:txBody>
      </p:sp>
      <p:sp>
        <p:nvSpPr>
          <p:cNvPr id="8" name="card-2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Assign one or more lawyers to a case</a:t>
            </a:r>
            <a:endParaRPr lang="en-US" sz="1400" dirty="0"/>
          </a:p>
        </p:txBody>
      </p:sp>
      <p:sp>
        <p:nvSpPr>
          <p:cNvPr id="13" name="card-3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Hearings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Schedule with no lawyer clashes</a:t>
            </a:r>
            <a:endParaRPr lang="en-US" sz="1400" dirty="0"/>
          </a:p>
        </p:txBody>
      </p:sp>
      <p:sp>
        <p:nvSpPr>
          <p:cNvPr id="18" name="card-4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4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3441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Tasks, documents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Track deadlines and filed papers</a:t>
            </a:r>
            <a:endParaRPr lang="en-US" sz="1400" dirty="0"/>
          </a:p>
        </p:txBody>
      </p:sp>
      <p:sp>
        <p:nvSpPr>
          <p:cNvPr id="23" name="card-5"/>
          <p:cNvSpPr/>
          <p:nvPr/>
        </p:nvSpPr>
        <p:spPr>
          <a:xfrm>
            <a:off x="45720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5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 entry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Hours per lawyer, case and date</a:t>
            </a:r>
            <a:endParaRPr lang="en-US" sz="1400" dirty="0"/>
          </a:p>
        </p:txBody>
      </p:sp>
      <p:sp>
        <p:nvSpPr>
          <p:cNvPr id="28" name="card-6"/>
          <p:cNvSpPr/>
          <p:nvPr/>
        </p:nvSpPr>
        <p:spPr>
          <a:xfrm>
            <a:off x="256032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6"/>
          <p:cNvSpPr/>
          <p:nvPr/>
        </p:nvSpPr>
        <p:spPr>
          <a:xfrm>
            <a:off x="269748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974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Billing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Invoices from time and expenses</a:t>
            </a:r>
            <a:endParaRPr lang="en-US" sz="1400" dirty="0"/>
          </a:p>
        </p:txBody>
      </p:sp>
      <p:sp>
        <p:nvSpPr>
          <p:cNvPr id="33" name="card-7"/>
          <p:cNvSpPr/>
          <p:nvPr/>
        </p:nvSpPr>
        <p:spPr>
          <a:xfrm>
            <a:off x="466344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-7"/>
          <p:cNvSpPr/>
          <p:nvPr/>
        </p:nvSpPr>
        <p:spPr>
          <a:xfrm>
            <a:off x="480060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part or full payments</a:t>
            </a:r>
            <a:endParaRPr lang="en-US" sz="1400" dirty="0"/>
          </a:p>
        </p:txBody>
      </p:sp>
      <p:sp>
        <p:nvSpPr>
          <p:cNvPr id="38" name="card-8"/>
          <p:cNvSpPr/>
          <p:nvPr/>
        </p:nvSpPr>
        <p:spPr>
          <a:xfrm>
            <a:off x="6766560" y="30175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-8"/>
          <p:cNvSpPr/>
          <p:nvPr/>
        </p:nvSpPr>
        <p:spPr>
          <a:xfrm>
            <a:off x="690372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037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3127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Reports, search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Search and live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ER diagram</a:t>
            </a:r>
            <a:endParaRPr lang="en-US" sz="3400" dirty="0"/>
          </a:p>
        </p:txBody>
      </p:sp>
      <p:pic>
        <p:nvPicPr>
          <p:cNvPr id="3" name="Image 0" descr="Entity relationship diagram of 13 entities around 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7872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13 entities. Every relationship is one-to-many; case-to-lawyer many-to-many is resolved by ASSIGNMENT.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relationships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2860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Entity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Entity 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files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CASE_TYPE / COURT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classifies / hears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is handled by (via ASSIGNMENT)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M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has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HEARING, TASK, DOCUMENT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attends / owns / logs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HEARING, TASK, TIME_ENTRY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incurs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TIME_ENTRY, EXPENSE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is billed by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INVOICE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INVOICE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is settled by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PAYMENT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Initial relational schema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client, case_type, court, 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own 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legal_case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 (case_no UNIQUE)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client_id, type_id, court_id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assignment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(case_id, lawyer_id)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case_id, lawyer_id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hearing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hearing_id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case_id, lawyer_id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task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task_id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case_id, lawyer_id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document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document_id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time_entry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entry_id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case_id, lawyer_id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expense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expense_id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invoice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invoice_id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case_id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payment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payment_id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invoice_id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 Desk">
  <a:themeElements>
    <a:clrScheme name="Legal Desk">
      <a:dk1>
        <a:srgbClr val="1B2438"/>
      </a:dk1>
      <a:lt1>
        <a:srgbClr val="FFFFFF"/>
      </a:lt1>
      <a:dk2>
        <a:srgbClr val="2B3A5C"/>
      </a:dk2>
      <a:lt2>
        <a:srgbClr val="EEF0F3"/>
      </a:lt2>
      <a:accent1>
        <a:srgbClr val="9A7421"/>
      </a:accent1>
      <a:accent2>
        <a:srgbClr val="2F6B4F"/>
      </a:accent2>
      <a:accent3>
        <a:srgbClr val="A63D2F"/>
      </a:accent3>
      <a:accent4>
        <a:srgbClr val="5D6678"/>
      </a:accent4>
      <a:accent5>
        <a:srgbClr val="C9A24A"/>
      </a:accent5>
      <a:accent6>
        <a:srgbClr val="3E5C8A"/>
      </a:accent6>
      <a:hlink>
        <a:srgbClr val="3E5C8A"/>
      </a:hlink>
      <a:folHlink>
        <a:srgbClr val="5D6678"/>
      </a:folHlink>
    </a:clrScheme>
    <a:fontScheme name="Legal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Case and Client Management System - Review 1</dc:title>
  <dc:subject>PptxGenJS Presentation</dc:subject>
  <dc:creator>PptxGenJS</dc:creator>
  <cp:lastModifiedBy>PptxGenJS</cp:lastModifiedBy>
  <cp:revision>1</cp:revision>
  <dcterms:created xsi:type="dcterms:W3CDTF">2026-10-15T21:18:39Z</dcterms:created>
  <dcterms:modified xsi:type="dcterms:W3CDTF">2026-10-15T21:18:39Z</dcterms:modified>
</cp:coreProperties>
</file>