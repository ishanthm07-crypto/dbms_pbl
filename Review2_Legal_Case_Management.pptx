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Review 2" id="{580ed65c-141b-89c2-78c2-f452efb202c6}">
          <p14:sldIdLst>
            <p14:sldId id="256"/>
            <p14:sldId id="257"/>
            <p14:sldId id="258"/>
            <p14:sldId id="259"/>
            <p14:sldId id="260"/>
            <p14:sldId id="261"/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Review 2 (Week 11)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188720"/>
            <a:ext cx="786384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2880360"/>
            <a:ext cx="786384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accent5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/>
        </p:nvSpPr>
        <p:spPr>
          <a:xfrm>
            <a:off x="457200" y="477316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Project 58 · Legal Case and Client Management · Review 2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188720"/>
            <a:ext cx="7863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Normalized Design, DDL and Queries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2880360"/>
            <a:ext cx="7863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5"/>
                </a:solidFill>
              </a:rPr>
              <a:t>Review 2 · 3NF, integrity constraints, sample data and reports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Project 58 · Database Management System · Ishanth M (25WU0102101)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Normalization to 3NF</a:t>
            </a:r>
            <a:endParaRPr lang="en-US" sz="3400" dirty="0"/>
          </a:p>
        </p:txBody>
      </p:sp>
      <p:sp>
        <p:nvSpPr>
          <p:cNvPr id="3" name="card-1"/>
          <p:cNvSpPr/>
          <p:nvPr/>
        </p:nvSpPr>
        <p:spPr>
          <a:xfrm>
            <a:off x="457200" y="1234440"/>
            <a:ext cx="2590800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badge-1"/>
          <p:cNvSpPr/>
          <p:nvPr/>
        </p:nvSpPr>
        <p:spPr>
          <a:xfrm>
            <a:off x="594360" y="1371600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371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1344168"/>
            <a:ext cx="1905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1NF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1920240"/>
            <a:ext cx="23164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Atomic values only. Lawyers of a case move to ASSIGNMENT instead of a list column.</a:t>
            </a:r>
            <a:endParaRPr lang="en-US" sz="1400" dirty="0"/>
          </a:p>
        </p:txBody>
      </p:sp>
      <p:sp>
        <p:nvSpPr>
          <p:cNvPr id="8" name="card-2"/>
          <p:cNvSpPr/>
          <p:nvPr/>
        </p:nvSpPr>
        <p:spPr>
          <a:xfrm>
            <a:off x="3276600" y="1234440"/>
            <a:ext cx="2590800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badge-2"/>
          <p:cNvSpPr/>
          <p:nvPr/>
        </p:nvSpPr>
        <p:spPr>
          <a:xfrm>
            <a:off x="3413760" y="1371600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13760" y="1371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870960" y="1344168"/>
            <a:ext cx="1905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2NF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413760" y="1920240"/>
            <a:ext cx="23164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No partial dependency. ASSIGNMENT attributes depend on the whole key (case_id, lawyer_id).</a:t>
            </a:r>
            <a:endParaRPr lang="en-US" sz="1400" dirty="0"/>
          </a:p>
        </p:txBody>
      </p:sp>
      <p:sp>
        <p:nvSpPr>
          <p:cNvPr id="13" name="card-3"/>
          <p:cNvSpPr/>
          <p:nvPr/>
        </p:nvSpPr>
        <p:spPr>
          <a:xfrm>
            <a:off x="6096000" y="1234440"/>
            <a:ext cx="2590800" cy="2286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badge-3"/>
          <p:cNvSpPr/>
          <p:nvPr/>
        </p:nvSpPr>
        <p:spPr>
          <a:xfrm>
            <a:off x="6233160" y="1371600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33160" y="1371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690360" y="1344168"/>
            <a:ext cx="1905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3NF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233160" y="1920240"/>
            <a:ext cx="23164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No transitive dependency. Client, court and case type are stored once in their own tables.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38404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Result: 13 relations. Every determinant is a candidate key, so the design also meets BCNF.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Functional dependencies</a:t>
            </a:r>
            <a:endParaRPr lang="en-US" sz="3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64922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Relation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Functional dependencies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438"/>
                          </a:solidFill>
                        </a:rPr>
                        <a:t>client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8"/>
                          </a:solidFill>
                        </a:rPr>
                        <a:t>client_id → name, phone, email;  email → client_id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438"/>
                          </a:solidFill>
                        </a:rPr>
                        <a:t>legal_case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8"/>
                          </a:solidFill>
                        </a:rPr>
                        <a:t>case_id → case_no, title, status, filed_on, client_id, type_id, court_id;  case_no → case_id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438"/>
                          </a:solidFill>
                        </a:rPr>
                        <a:t>lawyer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8"/>
                          </a:solidFill>
                        </a:rPr>
                        <a:t>lawyer_id → name, bar_no, hourly_rate;  bar_no → lawyer_id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438"/>
                          </a:solidFill>
                        </a:rPr>
                        <a:t>assignment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8"/>
                          </a:solidFill>
                        </a:rPr>
                        <a:t>(case_id, lawyer_id) → role, assigned_on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438"/>
                          </a:solidFill>
                        </a:rPr>
                        <a:t>hearing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8"/>
                          </a:solidFill>
                        </a:rPr>
                        <a:t>hearing_id → case_id, lawyer_id, start_time, end_time, purpose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438"/>
                          </a:solidFill>
                        </a:rPr>
                        <a:t>task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8"/>
                          </a:solidFill>
                        </a:rPr>
                        <a:t>task_id → case_id, lawyer_id, due_date, status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438"/>
                          </a:solidFill>
                        </a:rPr>
                        <a:t>time_entry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8"/>
                          </a:solidFill>
                        </a:rPr>
                        <a:t>entry_id → case_id, lawyer_id, work_date, hours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438"/>
                          </a:solidFill>
                        </a:rPr>
                        <a:t>invoice, payment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8"/>
                          </a:solidFill>
                        </a:rPr>
                        <a:t>invoice_id → case_id, issue_date, due_date, total;  payment_id → invoice_id, paid_on, amount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3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Data dictionary (key tables)</a:t>
            </a:r>
            <a:endParaRPr lang="en-US" sz="3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840480"/>
                <a:gridCol w="29260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Table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Main columns and types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Constraints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438"/>
                          </a:solidFill>
                        </a:rPr>
                        <a:t>legal_case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8"/>
                          </a:solidFill>
                        </a:rPr>
                        <a:t>case_no VARCHAR(30), status ENUM, filed_on DATE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8"/>
                          </a:solidFill>
                        </a:rPr>
                        <a:t>UNIQUE case_no, 3 FKs, NOT NULL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438"/>
                          </a:solidFill>
                        </a:rPr>
                        <a:t>hearing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8"/>
                          </a:solidFill>
                        </a:rPr>
                        <a:t>start_time, end_time DATETIME, purpose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8"/>
                          </a:solidFill>
                        </a:rPr>
                        <a:t>CHECK end &gt; start, overlap trigger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438"/>
                          </a:solidFill>
                        </a:rPr>
                        <a:t>task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8"/>
                          </a:solidFill>
                        </a:rPr>
                        <a:t>due_date DATE, status ENUM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8"/>
                          </a:solidFill>
                        </a:rPr>
                        <a:t>CHECK due_date &gt;= created_on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438"/>
                          </a:solidFill>
                        </a:rPr>
                        <a:t>time_entry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8"/>
                          </a:solidFill>
                        </a:rPr>
                        <a:t>work_date DATE, hours DECIMAL(5,2)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8"/>
                          </a:solidFill>
                        </a:rPr>
                        <a:t>CHECK hours &gt; 0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438"/>
                          </a:solidFill>
                        </a:rPr>
                        <a:t>expense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8"/>
                          </a:solidFill>
                        </a:rPr>
                        <a:t>amount DECIMAL(10,2), billable BOOL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8"/>
                          </a:solidFill>
                        </a:rPr>
                        <a:t>CHECK amount &gt;= 0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438"/>
                          </a:solidFill>
                        </a:rPr>
                        <a:t>invoice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8"/>
                          </a:solidFill>
                        </a:rPr>
                        <a:t>total DECIMAL(10,2), due_date, status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8"/>
                          </a:solidFill>
                        </a:rPr>
                        <a:t>CHECK total &gt;= 0, DEFAULT status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438"/>
                          </a:solidFill>
                        </a:rPr>
                        <a:t>payment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8"/>
                          </a:solidFill>
                        </a:rPr>
                        <a:t>amount DECIMAL(10,2), paid_on DATE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438"/>
                          </a:solidFill>
                        </a:rPr>
                        <a:t>CHECK amount &gt; 0, limit trigger</a:t>
                      </a:r>
                      <a:endParaRPr lang="en-US" sz="13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Business rules in the DDL</a:t>
            </a:r>
            <a:endParaRPr lang="en-US" sz="3400" dirty="0"/>
          </a:p>
        </p:txBody>
      </p:sp>
      <p:sp>
        <p:nvSpPr>
          <p:cNvPr id="3" name="rule-0"/>
          <p:cNvSpPr/>
          <p:nvPr/>
        </p:nvSpPr>
        <p:spPr>
          <a:xfrm>
            <a:off x="457200" y="1188720"/>
            <a:ext cx="8229600" cy="59436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rule-badge-0"/>
          <p:cNvSpPr/>
          <p:nvPr/>
        </p:nvSpPr>
        <p:spPr>
          <a:xfrm>
            <a:off x="594360" y="1298448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2984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118872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Unique case numbers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3931920" y="1188720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case_no VARCHAR(30) NOT NULL UNIQUE</a:t>
            </a:r>
            <a:endParaRPr lang="en-US" sz="1200" dirty="0"/>
          </a:p>
        </p:txBody>
      </p:sp>
      <p:sp>
        <p:nvSpPr>
          <p:cNvPr id="8" name="rule-1"/>
          <p:cNvSpPr/>
          <p:nvPr/>
        </p:nvSpPr>
        <p:spPr>
          <a:xfrm>
            <a:off x="457200" y="1874520"/>
            <a:ext cx="8229600" cy="59436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rule-badge-1"/>
          <p:cNvSpPr/>
          <p:nvPr/>
        </p:nvSpPr>
        <p:spPr>
          <a:xfrm>
            <a:off x="594360" y="1984248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94360" y="19842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187452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Valid hearing and task dates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931920" y="1874520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 (end_time &gt; start_time)</a:t>
            </a:r>
            <a:endParaRPr lang="en-US" sz="1200" dirty="0"/>
          </a:p>
        </p:txBody>
      </p:sp>
      <p:sp>
        <p:nvSpPr>
          <p:cNvPr id="13" name="rule-2"/>
          <p:cNvSpPr/>
          <p:nvPr/>
        </p:nvSpPr>
        <p:spPr>
          <a:xfrm>
            <a:off x="457200" y="2560320"/>
            <a:ext cx="8229600" cy="59436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rule-badge-2"/>
          <p:cNvSpPr/>
          <p:nvPr/>
        </p:nvSpPr>
        <p:spPr>
          <a:xfrm>
            <a:off x="594360" y="2670048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94360" y="26700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097280" y="256032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No overlapping hearings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3931920" y="2560320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BEFORE INSERT trigger: SIGNAL if the lawyer has an overlapping hearing</a:t>
            </a:r>
            <a:endParaRPr lang="en-US" sz="1200" dirty="0"/>
          </a:p>
        </p:txBody>
      </p:sp>
      <p:sp>
        <p:nvSpPr>
          <p:cNvPr id="18" name="rule-3"/>
          <p:cNvSpPr/>
          <p:nvPr/>
        </p:nvSpPr>
        <p:spPr>
          <a:xfrm>
            <a:off x="457200" y="3246120"/>
            <a:ext cx="8229600" cy="59436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rule-badge-3"/>
          <p:cNvSpPr/>
          <p:nvPr/>
        </p:nvSpPr>
        <p:spPr>
          <a:xfrm>
            <a:off x="594360" y="3355848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94360" y="33558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097280" y="324612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Non-negative time and expense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3931920" y="3246120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 (hours &gt; 0), CHECK (amount &gt;= 0)</a:t>
            </a:r>
            <a:endParaRPr lang="en-US" sz="1200" dirty="0"/>
          </a:p>
        </p:txBody>
      </p:sp>
      <p:sp>
        <p:nvSpPr>
          <p:cNvPr id="23" name="rule-4"/>
          <p:cNvSpPr/>
          <p:nvPr/>
        </p:nvSpPr>
        <p:spPr>
          <a:xfrm>
            <a:off x="457200" y="3931920"/>
            <a:ext cx="8229600" cy="59436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rule-badge-4"/>
          <p:cNvSpPr/>
          <p:nvPr/>
        </p:nvSpPr>
        <p:spPr>
          <a:xfrm>
            <a:off x="594360" y="4041648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94360" y="4041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1097280" y="393192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Payment limit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3931920" y="3931920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BEFORE INSERT trigger: payments cannot exceed invoice total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Queries and reports</a:t>
            </a:r>
            <a:endParaRPr lang="en-US" sz="3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59436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Report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SQL technique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438"/>
                          </a:solidFill>
                        </a:rPr>
                        <a:t>Upcoming hearings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8"/>
                          </a:solidFill>
                        </a:rPr>
                        <a:t>JOIN case, lawyer; WHERE hearing_date between today and +30 days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438"/>
                          </a:solidFill>
                        </a:rPr>
                        <a:t>Pending tasks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8"/>
                          </a:solidFill>
                        </a:rPr>
                        <a:t>JOIN with status filter, ORDER BY due_date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438"/>
                          </a:solidFill>
                        </a:rPr>
                        <a:t>Lawyer workload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8"/>
                          </a:solidFill>
                        </a:rPr>
                        <a:t>LEFT JOIN assignment, COUNT(*) GROUP BY lawyer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438"/>
                          </a:solidFill>
                        </a:rPr>
                        <a:t>Billable time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8"/>
                          </a:solidFill>
                        </a:rPr>
                        <a:t>SUM(hours * rate) GROUP BY case and lawyer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438"/>
                          </a:solidFill>
                        </a:rPr>
                        <a:t>Expenses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8"/>
                          </a:solidFill>
                        </a:rPr>
                        <a:t>SUM(amount) GROUP BY case, billable flag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438"/>
                          </a:solidFill>
                        </a:rPr>
                        <a:t>Outstanding invoices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8"/>
                          </a:solidFill>
                        </a:rPr>
                        <a:t>Subquery: total - SUM(payments); view v_outstanding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3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438"/>
                          </a:solidFill>
                        </a:rPr>
                        <a:t>Case status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438"/>
                          </a:solidFill>
                        </a:rPr>
                        <a:t>View v_case_summary; COUNT GROUP BY status</a:t>
                      </a:r>
                      <a:endParaRPr lang="en-US" sz="1400" dirty="0"/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F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Progress and prototype demo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Implementation status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600200"/>
            <a:ext cx="40233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Done: client, lawyer, court, case, assignment, hearing, document, billing tables; 2 views; 1 trigger; indexes; sample data; Flask API with role-based access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In progress: task, time entry, expense, invoice and payment tables; overlap and payment-limit triggers; case numbers and case types</a:t>
            </a:r>
            <a:endParaRPr lang="en-US" sz="1400" dirty="0"/>
          </a:p>
        </p:txBody>
      </p:sp>
      <p:sp>
        <p:nvSpPr>
          <p:cNvPr id="5" name="demo-card"/>
          <p:cNvSpPr/>
          <p:nvPr/>
        </p:nvSpPr>
        <p:spPr>
          <a:xfrm>
            <a:off x="4754880" y="1188720"/>
            <a:ext cx="3931920" cy="3337560"/>
          </a:xfrm>
          <a:prstGeom prst="roundRect">
            <a:avLst>
              <a:gd name="adj" fmla="val 2192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937760" y="1325880"/>
            <a:ext cx="356616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chemeClr val="accent5"/>
                </a:solidFill>
              </a:rPr>
              <a:t>Demo in the MySQL terminal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SHOW TABLES;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DESCRIBE legal_case;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 FROM v_case_summary;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a duplicate case_no (fails)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a negative amount (fails)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egal Desk">
  <a:themeElements>
    <a:clrScheme name="Legal Desk">
      <a:dk1>
        <a:srgbClr val="1B2438"/>
      </a:dk1>
      <a:lt1>
        <a:srgbClr val="FFFFFF"/>
      </a:lt1>
      <a:dk2>
        <a:srgbClr val="2B3A5C"/>
      </a:dk2>
      <a:lt2>
        <a:srgbClr val="EEF0F3"/>
      </a:lt2>
      <a:accent1>
        <a:srgbClr val="9A7421"/>
      </a:accent1>
      <a:accent2>
        <a:srgbClr val="2F6B4F"/>
      </a:accent2>
      <a:accent3>
        <a:srgbClr val="A63D2F"/>
      </a:accent3>
      <a:accent4>
        <a:srgbClr val="5D6678"/>
      </a:accent4>
      <a:accent5>
        <a:srgbClr val="C9A24A"/>
      </a:accent5>
      <a:accent6>
        <a:srgbClr val="3E5C8A"/>
      </a:accent6>
      <a:hlink>
        <a:srgbClr val="3E5C8A"/>
      </a:hlink>
      <a:folHlink>
        <a:srgbClr val="5D6678"/>
      </a:folHlink>
    </a:clrScheme>
    <a:fontScheme name="Legal Desk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Legal Case and Client Management System - Review 2</dc:title>
  <dc:subject>PptxGenJS Presentation</dc:subject>
  <dc:creator>PptxGenJS</dc:creator>
  <cp:lastModifiedBy>PptxGenJS</cp:lastModifiedBy>
  <cp:revision>1</cp:revision>
  <dcterms:created xsi:type="dcterms:W3CDTF">2026-10-15T21:18:39Z</dcterms:created>
  <dcterms:modified xsi:type="dcterms:W3CDTF">2026-10-15T21:18:39Z</dcterms:modified>
</cp:coreProperties>
</file>