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view 2" id="{580ed65c-141b-89c2-78c2-f452efb202c6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2 (Week 11)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8036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Project 58 · Legal Case and Client Management · Review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Normalized Design, DDL and Queries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8036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Review 2 · 3NF, integrity constraints, sample data and reports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Project 58 · Database Management System · M Srihari (25WU0103025)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Normalization to 3NF</a:t>
            </a:r>
            <a:endParaRPr lang="en-US" sz="3400" dirty="0"/>
          </a:p>
        </p:txBody>
      </p:sp>
      <p:sp>
        <p:nvSpPr>
          <p:cNvPr id="3" name="card-1"/>
          <p:cNvSpPr/>
          <p:nvPr/>
        </p:nvSpPr>
        <p:spPr>
          <a:xfrm>
            <a:off x="457200" y="1234440"/>
            <a:ext cx="25908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1"/>
          <p:cNvSpPr/>
          <p:nvPr/>
        </p:nvSpPr>
        <p:spPr>
          <a:xfrm>
            <a:off x="5943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344168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1NF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20240"/>
            <a:ext cx="2316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Atomic values only. Lawyers of a case move to ASSIGNMENT instead of a list column.</a:t>
            </a:r>
            <a:endParaRPr lang="en-US" sz="1400" dirty="0"/>
          </a:p>
        </p:txBody>
      </p:sp>
      <p:sp>
        <p:nvSpPr>
          <p:cNvPr id="8" name="card-2"/>
          <p:cNvSpPr/>
          <p:nvPr/>
        </p:nvSpPr>
        <p:spPr>
          <a:xfrm>
            <a:off x="3276600" y="1234440"/>
            <a:ext cx="25908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"/>
          <p:cNvSpPr/>
          <p:nvPr/>
        </p:nvSpPr>
        <p:spPr>
          <a:xfrm>
            <a:off x="34137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137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70960" y="1344168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2NF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13760" y="1920240"/>
            <a:ext cx="2316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partial dependency. ASSIGNMENT attributes depend on the whole key (case_id, lawyer_id).</a:t>
            </a:r>
            <a:endParaRPr lang="en-US" sz="1400" dirty="0"/>
          </a:p>
        </p:txBody>
      </p:sp>
      <p:sp>
        <p:nvSpPr>
          <p:cNvPr id="13" name="card-3"/>
          <p:cNvSpPr/>
          <p:nvPr/>
        </p:nvSpPr>
        <p:spPr>
          <a:xfrm>
            <a:off x="6096000" y="1234440"/>
            <a:ext cx="25908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-3"/>
          <p:cNvSpPr/>
          <p:nvPr/>
        </p:nvSpPr>
        <p:spPr>
          <a:xfrm>
            <a:off x="62331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331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90360" y="1344168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3NF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33160" y="1920240"/>
            <a:ext cx="2316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transitive dependency. Client, court and case type are stored once in their own tables.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Result: 13 relations. Every determinant is a candidate key, so the design also meets BCNF.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Functional dependencies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Relation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Functional dependencies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client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client_id → name, phone, email;  email → client_id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legal_case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case_id → case_no, title, status, filed_on, client_id, type_id, court_id;  case_no → case_id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lawyer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lawyer_id → name, bar_no, hourly_rate;  bar_no → lawyer_id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assignment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(case_id, lawyer_id) → role, assigned_on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hearing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hearing_id → case_id, lawyer_id, start_time, end_time, purpose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task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task_id → case_id, lawyer_id, due_date, status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time_entry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entry_id → case_id, lawyer_id, work_date, hours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invoice, payment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invoice_id → case_id, issue_date, due_date, total;  payment_id → invoice_id, paid_on, amount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Data dictionary (key tables)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Main columns and types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Constraints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legal_case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case_no VARCHAR(30), status ENUM, filed_on DATE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UNIQUE case_no, 3 FKs, NOT NULL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hearing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start_time, end_time DATETIME, purpose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CHECK end &gt; start, overlap trigger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task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due_date DATE, status ENUM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CHECK due_date &gt;= created_on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time_entry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work_date DATE, hours DECIMAL(5,2)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CHECK hours &gt;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expense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amount DECIMAL(10,2), billable BOOL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CHECK amount &gt;=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invoice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total DECIMAL(10,2), due_date, status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CHECK total &gt;= 0, DEFAULT status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8"/>
                          </a:solidFill>
                        </a:rPr>
                        <a:t>payment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amount DECIMAL(10,2), paid_on DATE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8"/>
                          </a:solidFill>
                        </a:rPr>
                        <a:t>CHECK amount &gt; 0, limit trigger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Business rules in the DDL</a:t>
            </a:r>
            <a:endParaRPr lang="en-US" sz="3400" dirty="0"/>
          </a:p>
        </p:txBody>
      </p:sp>
      <p:sp>
        <p:nvSpPr>
          <p:cNvPr id="3" name="rule-0"/>
          <p:cNvSpPr/>
          <p:nvPr/>
        </p:nvSpPr>
        <p:spPr>
          <a:xfrm>
            <a:off x="457200" y="1188720"/>
            <a:ext cx="8229600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ule-badge-0"/>
          <p:cNvSpPr/>
          <p:nvPr/>
        </p:nvSpPr>
        <p:spPr>
          <a:xfrm>
            <a:off x="594360" y="12984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1887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Unique case numbers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18872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case_no VARCHAR(30) NOT NULL UNIQUE</a:t>
            </a:r>
            <a:endParaRPr lang="en-US" sz="1200" dirty="0"/>
          </a:p>
        </p:txBody>
      </p:sp>
      <p:sp>
        <p:nvSpPr>
          <p:cNvPr id="8" name="rule-1"/>
          <p:cNvSpPr/>
          <p:nvPr/>
        </p:nvSpPr>
        <p:spPr>
          <a:xfrm>
            <a:off x="457200" y="1874520"/>
            <a:ext cx="8229600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ule-badge-1"/>
          <p:cNvSpPr/>
          <p:nvPr/>
        </p:nvSpPr>
        <p:spPr>
          <a:xfrm>
            <a:off x="594360" y="19842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874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Valid hearing and task dates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87452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 (end_time &gt; start_time)</a:t>
            </a:r>
            <a:endParaRPr lang="en-US" sz="1200" dirty="0"/>
          </a:p>
        </p:txBody>
      </p:sp>
      <p:sp>
        <p:nvSpPr>
          <p:cNvPr id="13" name="rule-2"/>
          <p:cNvSpPr/>
          <p:nvPr/>
        </p:nvSpPr>
        <p:spPr>
          <a:xfrm>
            <a:off x="457200" y="2560320"/>
            <a:ext cx="8229600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ule-badge-2"/>
          <p:cNvSpPr/>
          <p:nvPr/>
        </p:nvSpPr>
        <p:spPr>
          <a:xfrm>
            <a:off x="594360" y="2670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670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5603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overlapping hearings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56032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INSERT trigger: SIGNAL if the lawyer has an overlapping hearing</a:t>
            </a:r>
            <a:endParaRPr lang="en-US" sz="1200" dirty="0"/>
          </a:p>
        </p:txBody>
      </p:sp>
      <p:sp>
        <p:nvSpPr>
          <p:cNvPr id="18" name="rule-3"/>
          <p:cNvSpPr/>
          <p:nvPr/>
        </p:nvSpPr>
        <p:spPr>
          <a:xfrm>
            <a:off x="457200" y="3246120"/>
            <a:ext cx="8229600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ule-badge-3"/>
          <p:cNvSpPr/>
          <p:nvPr/>
        </p:nvSpPr>
        <p:spPr>
          <a:xfrm>
            <a:off x="594360" y="33558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355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2461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Non-negative time and expense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24612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 (hours &gt; 0), CHECK (amount &gt;= 0)</a:t>
            </a:r>
            <a:endParaRPr lang="en-US" sz="1200" dirty="0"/>
          </a:p>
        </p:txBody>
      </p:sp>
      <p:sp>
        <p:nvSpPr>
          <p:cNvPr id="23" name="rule-4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rule-badge-4"/>
          <p:cNvSpPr/>
          <p:nvPr/>
        </p:nvSpPr>
        <p:spPr>
          <a:xfrm>
            <a:off x="594360" y="40416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9319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Payment limit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393192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INSERT trigger: payments cannot exceed invoice total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Queries and reports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Report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SQL technique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Upcoming hearings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JOIN case, lawyer; WHERE hearing_date between today and +30 days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Pending tasks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JOIN with status filter, ORDER BY due_date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Lawyer workload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LEFT JOIN assignment, COUNT(*) GROUP BY lawyer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Billable time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SUM(hours * rate) GROUP BY case and lawyer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Expenses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SUM(amount) GROUP BY case, billable flag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Outstanding invoices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Subquery: total - SUM(payments); view v_outstanding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Case status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View v_case_summary; COUNT GROUP BY status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Progress and prototype demo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Implementation status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Done: client, lawyer, court, case, assignment, hearing, document, billing tables; 2 views; 1 trigger; indexes; sample data; Flask API with role-based access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In progress: task, time entry, expense, invoice and payment tables; overlap and payment-limit triggers; case numbers and case types</a:t>
            </a:r>
            <a:endParaRPr lang="en-US" sz="1400" dirty="0"/>
          </a:p>
        </p:txBody>
      </p:sp>
      <p:sp>
        <p:nvSpPr>
          <p:cNvPr id="5" name="demo-card"/>
          <p:cNvSpPr/>
          <p:nvPr/>
        </p:nvSpPr>
        <p:spPr>
          <a:xfrm>
            <a:off x="4754880" y="1188720"/>
            <a:ext cx="3931920" cy="3337560"/>
          </a:xfrm>
          <a:prstGeom prst="roundRect">
            <a:avLst>
              <a:gd name="adj" fmla="val 219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1325880"/>
            <a:ext cx="3566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Demo in the MySQL terminal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TABLES;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 legal_case;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v_case_summary;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a duplicate case_no (fails)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a negative amount (fails)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gal Desk">
  <a:themeElements>
    <a:clrScheme name="Legal Desk">
      <a:dk1>
        <a:srgbClr val="1B2438"/>
      </a:dk1>
      <a:lt1>
        <a:srgbClr val="FFFFFF"/>
      </a:lt1>
      <a:dk2>
        <a:srgbClr val="2B3A5C"/>
      </a:dk2>
      <a:lt2>
        <a:srgbClr val="EEF0F3"/>
      </a:lt2>
      <a:accent1>
        <a:srgbClr val="9A7421"/>
      </a:accent1>
      <a:accent2>
        <a:srgbClr val="2F6B4F"/>
      </a:accent2>
      <a:accent3>
        <a:srgbClr val="A63D2F"/>
      </a:accent3>
      <a:accent4>
        <a:srgbClr val="5D6678"/>
      </a:accent4>
      <a:accent5>
        <a:srgbClr val="C9A24A"/>
      </a:accent5>
      <a:accent6>
        <a:srgbClr val="3E5C8A"/>
      </a:accent6>
      <a:hlink>
        <a:srgbClr val="3E5C8A"/>
      </a:hlink>
      <a:folHlink>
        <a:srgbClr val="5D6678"/>
      </a:folHlink>
    </a:clrScheme>
    <a:fontScheme name="Legal Des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Case and Client Management System - Review 2</dc:title>
  <dc:subject>PptxGenJS Presentation</dc:subject>
  <dc:creator>PptxGenJS</dc:creator>
  <cp:lastModifiedBy>PptxGenJS</cp:lastModifiedBy>
  <cp:revision>1</cp:revision>
  <dcterms:created xsi:type="dcterms:W3CDTF">2026-10-15T21:18:39Z</dcterms:created>
  <dcterms:modified xsi:type="dcterms:W3CDTF">2026-10-15T21:18:39Z</dcterms:modified>
</cp:coreProperties>
</file>